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lvetica World Bold" charset="1" panose="020B08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54178" y="1028700"/>
            <a:ext cx="5179644" cy="1757713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35" t="-264896" r="-89066" b="-2654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49039" y="3035041"/>
            <a:ext cx="14472670" cy="2759517"/>
            <a:chOff x="0" y="0"/>
            <a:chExt cx="19296894" cy="36793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96893" cy="3679357"/>
            </a:xfrm>
            <a:custGeom>
              <a:avLst/>
              <a:gdLst/>
              <a:ahLst/>
              <a:cxnLst/>
              <a:rect r="r" b="b" t="t" l="l"/>
              <a:pathLst>
                <a:path h="3679357" w="19296893">
                  <a:moveTo>
                    <a:pt x="0" y="0"/>
                  </a:moveTo>
                  <a:lnTo>
                    <a:pt x="19296893" y="0"/>
                  </a:lnTo>
                  <a:lnTo>
                    <a:pt x="19296893" y="3679357"/>
                  </a:lnTo>
                  <a:lnTo>
                    <a:pt x="0" y="36793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873" r="-8991" b="-358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9296894" cy="36126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Stochastic On Time Arrival Problem (Jensen’s Inequality Analysis)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07665" y="8767714"/>
            <a:ext cx="14472670" cy="928662"/>
            <a:chOff x="0" y="0"/>
            <a:chExt cx="19296894" cy="1238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96893" cy="1238216"/>
            </a:xfrm>
            <a:custGeom>
              <a:avLst/>
              <a:gdLst/>
              <a:ahLst/>
              <a:cxnLst/>
              <a:rect r="r" b="b" t="t" l="l"/>
              <a:pathLst>
                <a:path h="1238216" w="19296893">
                  <a:moveTo>
                    <a:pt x="0" y="0"/>
                  </a:moveTo>
                  <a:lnTo>
                    <a:pt x="19296893" y="0"/>
                  </a:lnTo>
                  <a:lnTo>
                    <a:pt x="19296893" y="1238216"/>
                  </a:lnTo>
                  <a:lnTo>
                    <a:pt x="0" y="1238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145" r="-8991" b="-3037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9296894" cy="120964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35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CSE 400: Fundamentals of Probability in Computing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22410" y="5794559"/>
            <a:ext cx="5843180" cy="1009239"/>
            <a:chOff x="0" y="0"/>
            <a:chExt cx="7790906" cy="1345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90907" cy="1345653"/>
            </a:xfrm>
            <a:custGeom>
              <a:avLst/>
              <a:gdLst/>
              <a:ahLst/>
              <a:cxnLst/>
              <a:rect r="r" b="b" t="t" l="l"/>
              <a:pathLst>
                <a:path h="1345653" w="7790907">
                  <a:moveTo>
                    <a:pt x="0" y="0"/>
                  </a:moveTo>
                  <a:lnTo>
                    <a:pt x="7790907" y="0"/>
                  </a:lnTo>
                  <a:lnTo>
                    <a:pt x="7790907" y="1345653"/>
                  </a:lnTo>
                  <a:lnTo>
                    <a:pt x="0" y="1345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7534" r="-169955" b="-271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7790906" cy="131707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104"/>
                </a:lnSpc>
              </a:pPr>
              <a:r>
                <a:rPr lang="en-US" sz="38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Milestone - 02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60244" y="6905419"/>
            <a:ext cx="8167512" cy="1576929"/>
            <a:chOff x="0" y="0"/>
            <a:chExt cx="10890016" cy="21025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90016" cy="2102573"/>
            </a:xfrm>
            <a:custGeom>
              <a:avLst/>
              <a:gdLst/>
              <a:ahLst/>
              <a:cxnLst/>
              <a:rect r="r" b="b" t="t" l="l"/>
              <a:pathLst>
                <a:path h="2102573" w="10890016">
                  <a:moveTo>
                    <a:pt x="0" y="0"/>
                  </a:moveTo>
                  <a:lnTo>
                    <a:pt x="10890016" y="0"/>
                  </a:lnTo>
                  <a:lnTo>
                    <a:pt x="10890016" y="2102573"/>
                  </a:lnTo>
                  <a:lnTo>
                    <a:pt x="0" y="2102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022" r="-93131" b="-1377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0890016" cy="206447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33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Abdulwahab Shaikh - AU2440099 </a:t>
              </a:r>
            </a:p>
            <a:p>
              <a:pPr algn="ctr">
                <a:lnSpc>
                  <a:spcPts val="3564"/>
                </a:lnSpc>
              </a:pPr>
              <a:r>
                <a:rPr lang="en-US" sz="33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Dhruvi Chavda - AU2440236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03358" y="1028700"/>
            <a:ext cx="5681284" cy="1437078"/>
            <a:chOff x="0" y="0"/>
            <a:chExt cx="7575045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75045" cy="1916104"/>
            </a:xfrm>
            <a:custGeom>
              <a:avLst/>
              <a:gdLst/>
              <a:ahLst/>
              <a:cxnLst/>
              <a:rect r="r" b="b" t="t" l="l"/>
              <a:pathLst>
                <a:path h="1916104" w="7575045">
                  <a:moveTo>
                    <a:pt x="0" y="0"/>
                  </a:moveTo>
                  <a:lnTo>
                    <a:pt x="7575045" y="0"/>
                  </a:lnTo>
                  <a:lnTo>
                    <a:pt x="7575045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177637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7575045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62581" y="3621385"/>
            <a:ext cx="11214649" cy="3802160"/>
            <a:chOff x="0" y="0"/>
            <a:chExt cx="14952865" cy="5069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52866" cy="5069547"/>
            </a:xfrm>
            <a:custGeom>
              <a:avLst/>
              <a:gdLst/>
              <a:ahLst/>
              <a:cxnLst/>
              <a:rect r="r" b="b" t="t" l="l"/>
              <a:pathLst>
                <a:path h="5069547" w="14952866">
                  <a:moveTo>
                    <a:pt x="0" y="0"/>
                  </a:moveTo>
                  <a:lnTo>
                    <a:pt x="14952866" y="0"/>
                  </a:lnTo>
                  <a:lnTo>
                    <a:pt x="14952866" y="5069547"/>
                  </a:lnTo>
                  <a:lnTo>
                    <a:pt x="0" y="50695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50" r="-40655" b="13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4952865" cy="521242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Stochastic On Time Arrival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Trave</a:t>
              </a: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 time is stochastic and a Random Variable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Objective: maximize P(T≤D)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Network modeled as graph G(V,E)</a:t>
              </a:r>
            </a:p>
            <a:p>
              <a:pPr algn="l" marL="712488" indent="-356244" lvl="1">
                <a:lnSpc>
                  <a:spcPts val="5445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Dynamic programming framework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628663" y="4194766"/>
            <a:ext cx="4900108" cy="2655398"/>
          </a:xfrm>
          <a:custGeom>
            <a:avLst/>
            <a:gdLst/>
            <a:ahLst/>
            <a:cxnLst/>
            <a:rect r="r" b="b" t="t" l="l"/>
            <a:pathLst>
              <a:path h="2655398" w="4900108">
                <a:moveTo>
                  <a:pt x="0" y="0"/>
                </a:moveTo>
                <a:lnTo>
                  <a:pt x="4900108" y="0"/>
                </a:lnTo>
                <a:lnTo>
                  <a:pt x="4900108" y="2655398"/>
                </a:lnTo>
                <a:lnTo>
                  <a:pt x="0" y="265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71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30363" y="1028700"/>
            <a:ext cx="2427274" cy="1437078"/>
            <a:chOff x="0" y="0"/>
            <a:chExt cx="3236366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36366" cy="1916104"/>
            </a:xfrm>
            <a:custGeom>
              <a:avLst/>
              <a:gdLst/>
              <a:ahLst/>
              <a:cxnLst/>
              <a:rect r="r" b="b" t="t" l="l"/>
              <a:pathLst>
                <a:path h="1916104" w="3236366">
                  <a:moveTo>
                    <a:pt x="0" y="0"/>
                  </a:moveTo>
                  <a:lnTo>
                    <a:pt x="3236366" y="0"/>
                  </a:lnTo>
                  <a:lnTo>
                    <a:pt x="3236366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54984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236366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Goal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87200" y="3679112"/>
            <a:ext cx="5835924" cy="3806351"/>
            <a:chOff x="0" y="0"/>
            <a:chExt cx="7781233" cy="50751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81233" cy="5075135"/>
            </a:xfrm>
            <a:custGeom>
              <a:avLst/>
              <a:gdLst/>
              <a:ahLst/>
              <a:cxnLst/>
              <a:rect r="r" b="b" t="t" l="l"/>
              <a:pathLst>
                <a:path h="5075135" w="7781233">
                  <a:moveTo>
                    <a:pt x="0" y="0"/>
                  </a:moveTo>
                  <a:lnTo>
                    <a:pt x="7781233" y="0"/>
                  </a:lnTo>
                  <a:lnTo>
                    <a:pt x="7781233" y="5075135"/>
                  </a:lnTo>
                  <a:lnTo>
                    <a:pt x="0" y="50751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981" r="-170291" b="14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7781233" cy="5218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12488" indent="-356244" lvl="1">
                <a:lnSpc>
                  <a:spcPts val="5412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To find the most reliable path rather than the path with the shortest route</a:t>
              </a:r>
            </a:p>
            <a:p>
              <a:pPr algn="l" marL="712488" indent="-356244" lvl="1">
                <a:lnSpc>
                  <a:spcPts val="5412"/>
                </a:lnSpc>
                <a:buFont typeface="Arial"/>
                <a:buChar char="•"/>
              </a:pPr>
              <a:r>
                <a:rPr lang="en-US" b="true" sz="3300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Variable → Travel Time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80403" y="3170609"/>
            <a:ext cx="10481528" cy="4823358"/>
          </a:xfrm>
          <a:custGeom>
            <a:avLst/>
            <a:gdLst/>
            <a:ahLst/>
            <a:cxnLst/>
            <a:rect r="r" b="b" t="t" l="l"/>
            <a:pathLst>
              <a:path h="4823358" w="10481528">
                <a:moveTo>
                  <a:pt x="0" y="0"/>
                </a:moveTo>
                <a:lnTo>
                  <a:pt x="10481528" y="0"/>
                </a:lnTo>
                <a:lnTo>
                  <a:pt x="10481528" y="4823358"/>
                </a:lnTo>
                <a:lnTo>
                  <a:pt x="0" y="4823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26198" y="882437"/>
            <a:ext cx="10035603" cy="2246703"/>
            <a:chOff x="0" y="0"/>
            <a:chExt cx="13380804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80803" cy="2995604"/>
            </a:xfrm>
            <a:custGeom>
              <a:avLst/>
              <a:gdLst/>
              <a:ahLst/>
              <a:cxnLst/>
              <a:rect r="r" b="b" t="t" l="l"/>
              <a:pathLst>
                <a:path h="2995604" w="13380803">
                  <a:moveTo>
                    <a:pt x="0" y="0"/>
                  </a:moveTo>
                  <a:lnTo>
                    <a:pt x="13380803" y="0"/>
                  </a:lnTo>
                  <a:lnTo>
                    <a:pt x="13380803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-57174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380804" cy="29479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Dataset &amp; Travel Time Modelling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117748" y="3890181"/>
            <a:ext cx="9522768" cy="4053611"/>
          </a:xfrm>
          <a:custGeom>
            <a:avLst/>
            <a:gdLst/>
            <a:ahLst/>
            <a:cxnLst/>
            <a:rect r="r" b="b" t="t" l="l"/>
            <a:pathLst>
              <a:path h="4053611" w="9522768">
                <a:moveTo>
                  <a:pt x="0" y="0"/>
                </a:moveTo>
                <a:lnTo>
                  <a:pt x="9522767" y="0"/>
                </a:lnTo>
                <a:lnTo>
                  <a:pt x="9522767" y="4053611"/>
                </a:lnTo>
                <a:lnTo>
                  <a:pt x="0" y="4053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4444" y="3890181"/>
            <a:ext cx="5890821" cy="374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Each road is considered as an edge and it has </a:t>
            </a:r>
          </a:p>
          <a:p>
            <a:pPr algn="ctr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length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Identifier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Mean travel time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Standard travel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37619" y="8498176"/>
            <a:ext cx="12212763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 are using a small sample of around 60 Nodes from the data collected by online sources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2246703"/>
            <a:chOff x="0" y="0"/>
            <a:chExt cx="16283684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2995604"/>
            </a:xfrm>
            <a:custGeom>
              <a:avLst/>
              <a:gdLst/>
              <a:ahLst/>
              <a:cxnLst/>
              <a:rect r="r" b="b" t="t" l="l"/>
              <a:pathLst>
                <a:path h="29956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-29155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29479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Probability Density Function / Cumulative Distribution Function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49039" y="3128942"/>
            <a:ext cx="7168999" cy="6129358"/>
          </a:xfrm>
          <a:custGeom>
            <a:avLst/>
            <a:gdLst/>
            <a:ahLst/>
            <a:cxnLst/>
            <a:rect r="r" b="b" t="t" l="l"/>
            <a:pathLst>
              <a:path h="6129358" w="7168999">
                <a:moveTo>
                  <a:pt x="0" y="0"/>
                </a:moveTo>
                <a:lnTo>
                  <a:pt x="7168998" y="0"/>
                </a:lnTo>
                <a:lnTo>
                  <a:pt x="7168998" y="6129358"/>
                </a:lnTo>
                <a:lnTo>
                  <a:pt x="0" y="6129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56979" y="3827611"/>
            <a:ext cx="7524086" cy="473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curve indicates the PDF distribution for the 60 nodes sample</a:t>
            </a:r>
          </a:p>
          <a:p>
            <a:pPr algn="ctr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Peak → Common Travel Duration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Tail behavior reflects the reliability 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fT​(t)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2246703"/>
            <a:chOff x="0" y="0"/>
            <a:chExt cx="16283684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2995604"/>
            </a:xfrm>
            <a:custGeom>
              <a:avLst/>
              <a:gdLst/>
              <a:ahLst/>
              <a:cxnLst/>
              <a:rect r="r" b="b" t="t" l="l"/>
              <a:pathLst>
                <a:path h="29956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-29155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29479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Probability Density Function / Cumulative Distribution Function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70548" y="2768665"/>
            <a:ext cx="7156462" cy="6143079"/>
          </a:xfrm>
          <a:custGeom>
            <a:avLst/>
            <a:gdLst/>
            <a:ahLst/>
            <a:cxnLst/>
            <a:rect r="r" b="b" t="t" l="l"/>
            <a:pathLst>
              <a:path h="6143079" w="7156462">
                <a:moveTo>
                  <a:pt x="0" y="0"/>
                </a:moveTo>
                <a:lnTo>
                  <a:pt x="7156462" y="0"/>
                </a:lnTo>
                <a:lnTo>
                  <a:pt x="7156462" y="6143079"/>
                </a:lnTo>
                <a:lnTo>
                  <a:pt x="0" y="6143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524672"/>
            <a:ext cx="7938496" cy="477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curve indicates the Empirical CDF for the 60 nodes sample</a:t>
            </a:r>
          </a:p>
          <a:p>
            <a:pPr algn="ctr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Probability of arriving within time T</a:t>
            </a:r>
          </a:p>
          <a:p>
            <a:pPr algn="l">
              <a:lnSpc>
                <a:spcPts val="3960"/>
              </a:lnSpc>
            </a:pP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Staircase Approximation of the expected travel time</a:t>
            </a:r>
          </a:p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  <a:p>
            <a:pPr algn="l" marL="712470" indent="-356235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FT​(t)=P(T≤t)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37619" y="521962"/>
            <a:ext cx="12212763" cy="1437078"/>
            <a:chOff x="0" y="0"/>
            <a:chExt cx="16283684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3684" cy="1916104"/>
            </a:xfrm>
            <a:custGeom>
              <a:avLst/>
              <a:gdLst/>
              <a:ahLst/>
              <a:cxnLst/>
              <a:rect r="r" b="b" t="t" l="l"/>
              <a:pathLst>
                <a:path h="1916104" w="16283684">
                  <a:moveTo>
                    <a:pt x="0" y="0"/>
                  </a:moveTo>
                  <a:lnTo>
                    <a:pt x="16283684" y="0"/>
                  </a:lnTo>
                  <a:lnTo>
                    <a:pt x="16283684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-29155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6283684" cy="18684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Jensen’s Inequality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382424" y="2585140"/>
            <a:ext cx="7326367" cy="5906689"/>
          </a:xfrm>
          <a:custGeom>
            <a:avLst/>
            <a:gdLst/>
            <a:ahLst/>
            <a:cxnLst/>
            <a:rect r="r" b="b" t="t" l="l"/>
            <a:pathLst>
              <a:path h="5906689" w="7326367">
                <a:moveTo>
                  <a:pt x="0" y="0"/>
                </a:moveTo>
                <a:lnTo>
                  <a:pt x="7326367" y="0"/>
                </a:lnTo>
                <a:lnTo>
                  <a:pt x="7326367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61577" y="8056431"/>
            <a:ext cx="6456701" cy="1001987"/>
          </a:xfrm>
          <a:custGeom>
            <a:avLst/>
            <a:gdLst/>
            <a:ahLst/>
            <a:cxnLst/>
            <a:rect r="r" b="b" t="t" l="l"/>
            <a:pathLst>
              <a:path h="1001987" w="6456701">
                <a:moveTo>
                  <a:pt x="0" y="0"/>
                </a:moveTo>
                <a:lnTo>
                  <a:pt x="6456701" y="0"/>
                </a:lnTo>
                <a:lnTo>
                  <a:pt x="6456701" y="1001987"/>
                </a:lnTo>
                <a:lnTo>
                  <a:pt x="0" y="1001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762" r="0" b="-166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4678" y="2580113"/>
            <a:ext cx="8210499" cy="5340810"/>
          </a:xfrm>
          <a:custGeom>
            <a:avLst/>
            <a:gdLst/>
            <a:ahLst/>
            <a:cxnLst/>
            <a:rect r="r" b="b" t="t" l="l"/>
            <a:pathLst>
              <a:path h="5340810" w="8210499">
                <a:moveTo>
                  <a:pt x="0" y="0"/>
                </a:moveTo>
                <a:lnTo>
                  <a:pt x="8210499" y="0"/>
                </a:lnTo>
                <a:lnTo>
                  <a:pt x="8210499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96898" y="542030"/>
            <a:ext cx="10094203" cy="1593956"/>
            <a:chOff x="0" y="0"/>
            <a:chExt cx="13458938" cy="21252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58938" cy="2125276"/>
            </a:xfrm>
            <a:custGeom>
              <a:avLst/>
              <a:gdLst/>
              <a:ahLst/>
              <a:cxnLst/>
              <a:rect r="r" b="b" t="t" l="l"/>
              <a:pathLst>
                <a:path h="2125276" w="13458938">
                  <a:moveTo>
                    <a:pt x="0" y="0"/>
                  </a:moveTo>
                  <a:lnTo>
                    <a:pt x="13458938" y="0"/>
                  </a:lnTo>
                  <a:lnTo>
                    <a:pt x="13458938" y="2125276"/>
                  </a:lnTo>
                  <a:lnTo>
                    <a:pt x="0" y="21252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447" r="-56261" b="-1551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3458938" cy="20776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Shift in optimization Objective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49039" y="3397365"/>
            <a:ext cx="14331358" cy="152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448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Classical routing:  min E[T]</a:t>
            </a:r>
          </a:p>
          <a:p>
            <a:pPr algn="ctr">
              <a:lnSpc>
                <a:spcPts val="3723"/>
              </a:lnSpc>
            </a:pPr>
          </a:p>
          <a:p>
            <a:pPr algn="ctr">
              <a:lnSpc>
                <a:spcPts val="3723"/>
              </a:lnSpc>
              <a:spcBef>
                <a:spcPct val="0"/>
              </a:spcBef>
            </a:pPr>
            <a:r>
              <a:rPr lang="en-US" b="true" sz="3448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Stochastic On Time Arrival routing:  max P(T≤D)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03099" y="5958756"/>
            <a:ext cx="11081801" cy="158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0844" indent="-375422" lvl="1">
              <a:lnSpc>
                <a:spcPts val="3755"/>
              </a:lnSpc>
              <a:buFont typeface="Arial"/>
              <a:buChar char="•"/>
            </a:pPr>
            <a:r>
              <a:rPr lang="en-US" b="true" sz="3477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These objectives are fundamentally different</a:t>
            </a:r>
          </a:p>
          <a:p>
            <a:pPr algn="ctr" marL="750844" indent="-375422" lvl="1">
              <a:lnSpc>
                <a:spcPts val="3755"/>
              </a:lnSpc>
              <a:buFont typeface="Arial"/>
              <a:buChar char="•"/>
            </a:pPr>
            <a:r>
              <a:rPr lang="en-US" b="true" sz="3477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Expectation ignores uncertainty</a:t>
            </a:r>
          </a:p>
          <a:p>
            <a:pPr algn="ctr" marL="750844" indent="-375422" lvl="1">
              <a:lnSpc>
                <a:spcPts val="3755"/>
              </a:lnSpc>
              <a:buFont typeface="Arial"/>
              <a:buChar char="•"/>
            </a:pPr>
            <a:r>
              <a:rPr lang="en-US" b="true" sz="3477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Reability depends on full probability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567" y="9038947"/>
            <a:ext cx="2048723" cy="898484"/>
            <a:chOff x="0" y="0"/>
            <a:chExt cx="2731630" cy="1197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571" t="-164491" r="-72154" b="-16485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64901" y="890145"/>
            <a:ext cx="14158199" cy="8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1"/>
              </a:lnSpc>
              <a:spcBef>
                <a:spcPct val="0"/>
              </a:spcBef>
            </a:pPr>
            <a:r>
              <a:rPr lang="en-US" b="true" sz="5399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Jensen’s Inequality - Why Expectation Fails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2021" y="3498151"/>
            <a:ext cx="13743959" cy="1894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 nonlinear function f:   f(E[T])≠E[f(T)]</a:t>
            </a:r>
          </a:p>
          <a:p>
            <a:pPr algn="ctr">
              <a:lnSpc>
                <a:spcPts val="3564"/>
              </a:lnSpc>
            </a:pPr>
          </a:p>
          <a:p>
            <a:pPr algn="ctr">
              <a:lnSpc>
                <a:spcPts val="3564"/>
              </a:lnSpc>
            </a:pPr>
            <a:r>
              <a:rPr lang="en-US" sz="3300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Arrival probability:  P(T ≤ D)</a:t>
            </a:r>
          </a:p>
          <a:p>
            <a:pPr algn="ctr">
              <a:lnSpc>
                <a:spcPts val="35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72021" y="6188276"/>
            <a:ext cx="13743959" cy="14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81" indent="-356241" lvl="1">
              <a:lnSpc>
                <a:spcPts val="3564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Probability is nonlinear</a:t>
            </a:r>
          </a:p>
          <a:p>
            <a:pPr algn="ctr" marL="712481" indent="-356241" lvl="1">
              <a:lnSpc>
                <a:spcPts val="3564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Minimizing expected time does not maximize arrival probability</a:t>
            </a:r>
          </a:p>
          <a:p>
            <a:pPr algn="ctr" marL="712481" indent="-356241" lvl="1">
              <a:lnSpc>
                <a:spcPts val="3564"/>
              </a:lnSpc>
              <a:buFont typeface="Arial"/>
              <a:buChar char="•"/>
            </a:pPr>
            <a:r>
              <a:rPr lang="en-US" b="true" sz="3300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This justifies stochastic routing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567" y="9038947"/>
            <a:ext cx="2048723" cy="898484"/>
            <a:chOff x="0" y="0"/>
            <a:chExt cx="2731630" cy="1197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571" t="-164491" r="-72154" b="-16485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73911" y="1076325"/>
            <a:ext cx="10940178" cy="8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1"/>
              </a:lnSpc>
              <a:spcBef>
                <a:spcPct val="0"/>
              </a:spcBef>
            </a:pPr>
            <a:r>
              <a:rPr lang="en-US" b="true" sz="5399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Impect of Variability on Reliability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24126" y="2930230"/>
            <a:ext cx="8239749" cy="290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sz="3399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Even if:   E[T1​] = E[T2​]</a:t>
            </a:r>
          </a:p>
          <a:p>
            <a:pPr algn="ctr">
              <a:lnSpc>
                <a:spcPts val="3671"/>
              </a:lnSpc>
            </a:pPr>
          </a:p>
          <a:p>
            <a:pPr algn="ctr">
              <a:lnSpc>
                <a:spcPts val="3671"/>
              </a:lnSpc>
            </a:pPr>
            <a:r>
              <a:rPr lang="en-US" sz="3399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If:   σ₁² &lt; σ₂²</a:t>
            </a:r>
          </a:p>
          <a:p>
            <a:pPr algn="ctr">
              <a:lnSpc>
                <a:spcPts val="3671"/>
              </a:lnSpc>
            </a:pPr>
          </a:p>
          <a:p>
            <a:pPr algn="ctr">
              <a:lnSpc>
                <a:spcPts val="3671"/>
              </a:lnSpc>
            </a:pPr>
            <a:r>
              <a:rPr lang="en-US" sz="3399" b="true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Then:   P(T1​ ≤ D) &gt; P(T2 ​≤ D)</a:t>
            </a:r>
          </a:p>
          <a:p>
            <a:pPr algn="ctr">
              <a:lnSpc>
                <a:spcPts val="367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71297" y="6607975"/>
            <a:ext cx="11945405" cy="112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10591" indent="-405296" lvl="1">
              <a:lnSpc>
                <a:spcPts val="4054"/>
              </a:lnSpc>
              <a:buFont typeface="Arial"/>
              <a:buChar char="•"/>
            </a:pPr>
            <a:r>
              <a:rPr lang="en-US" b="true" sz="375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Higher varience - lower reliability</a:t>
            </a:r>
          </a:p>
          <a:p>
            <a:pPr algn="ctr" marL="810591" indent="-405296" lvl="1">
              <a:lnSpc>
                <a:spcPts val="4054"/>
              </a:lnSpc>
              <a:buFont typeface="Arial"/>
              <a:buChar char="•"/>
            </a:pPr>
            <a:r>
              <a:rPr lang="en-US" b="true" sz="375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Distribution shape matters, not just mean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567" y="9038947"/>
            <a:ext cx="2048723" cy="898484"/>
            <a:chOff x="0" y="0"/>
            <a:chExt cx="2731630" cy="1197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571" t="-164491" r="-72154" b="-16485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24040" y="1276831"/>
            <a:ext cx="13639920" cy="8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1"/>
              </a:lnSpc>
              <a:spcBef>
                <a:spcPct val="0"/>
              </a:spcBef>
            </a:pPr>
            <a:r>
              <a:rPr lang="en-US" b="true" sz="5399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 Assumptions and Their Implication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87051" y="3426965"/>
            <a:ext cx="14214759" cy="422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0599" indent="-435300" lvl="1">
              <a:lnSpc>
                <a:spcPts val="4355"/>
              </a:lnSpc>
              <a:buFont typeface="Arial"/>
              <a:buChar char="•"/>
            </a:pPr>
            <a:r>
              <a:rPr lang="en-US" b="true" sz="4032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Independence of edges</a:t>
            </a:r>
          </a:p>
          <a:p>
            <a:pPr algn="l" marL="870599" indent="-435300" lvl="1">
              <a:lnSpc>
                <a:spcPts val="4355"/>
              </a:lnSpc>
              <a:buFont typeface="Arial"/>
              <a:buChar char="•"/>
            </a:pPr>
            <a:r>
              <a:rPr lang="en-US" b="true" sz="4032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Time-invariant distributions</a:t>
            </a:r>
          </a:p>
          <a:p>
            <a:pPr algn="l" marL="870599" indent="-435300" lvl="1">
              <a:lnSpc>
                <a:spcPts val="4355"/>
              </a:lnSpc>
              <a:buFont typeface="Arial"/>
              <a:buChar char="•"/>
            </a:pPr>
            <a:r>
              <a:rPr lang="en-US" b="true" sz="4032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Exogenous uncertainty</a:t>
            </a:r>
          </a:p>
          <a:p>
            <a:pPr algn="l">
              <a:lnSpc>
                <a:spcPts val="4355"/>
              </a:lnSpc>
            </a:pPr>
          </a:p>
          <a:p>
            <a:pPr algn="l" marL="870599" indent="-435300" lvl="1">
              <a:lnSpc>
                <a:spcPts val="4355"/>
              </a:lnSpc>
              <a:buFont typeface="Arial"/>
              <a:buChar char="•"/>
            </a:pPr>
            <a:r>
              <a:rPr lang="en-US" b="true" sz="4032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Independence allows convolution</a:t>
            </a:r>
          </a:p>
          <a:p>
            <a:pPr algn="l" marL="870599" indent="-435300" lvl="1">
              <a:lnSpc>
                <a:spcPts val="4355"/>
              </a:lnSpc>
              <a:buFont typeface="Arial"/>
              <a:buChar char="•"/>
            </a:pPr>
            <a:r>
              <a:rPr lang="en-US" b="true" sz="4032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These assumptions ensure mathematical tractability</a:t>
            </a:r>
          </a:p>
          <a:p>
            <a:pPr algn="l" marL="870599" indent="-435300" lvl="1">
              <a:lnSpc>
                <a:spcPts val="4355"/>
              </a:lnSpc>
              <a:buFont typeface="Arial"/>
              <a:buChar char="•"/>
            </a:pPr>
            <a:r>
              <a:rPr lang="en-US" b="true" sz="4032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Real-world correlations may reduce accuracy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567" y="9038947"/>
            <a:ext cx="2048723" cy="898484"/>
            <a:chOff x="0" y="0"/>
            <a:chExt cx="2731630" cy="1197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571" t="-164491" r="-72154" b="-16485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28120" y="1076325"/>
            <a:ext cx="5231761" cy="8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1"/>
              </a:lnSpc>
              <a:spcBef>
                <a:spcPct val="0"/>
              </a:spcBef>
            </a:pPr>
            <a:r>
              <a:rPr lang="en-US" b="true" sz="5399">
                <a:solidFill>
                  <a:srgbClr val="7D191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824" y="3269581"/>
            <a:ext cx="18146176" cy="312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9456" indent="-369728" lvl="1">
              <a:lnSpc>
                <a:spcPts val="4623"/>
              </a:lnSpc>
              <a:buFont typeface="Arial"/>
              <a:buChar char="•"/>
            </a:pPr>
            <a:r>
              <a:rPr lang="en-US" b="true" sz="342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Reliability optimization is fundamentally different from expectation minimization</a:t>
            </a:r>
          </a:p>
          <a:p>
            <a:pPr algn="l" marL="739456" indent="-369728" lvl="1">
              <a:lnSpc>
                <a:spcPts val="4623"/>
              </a:lnSpc>
              <a:buFont typeface="Arial"/>
              <a:buChar char="•"/>
            </a:pPr>
            <a:r>
              <a:rPr lang="en-US" b="true" sz="342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Nonlinearity of probability functional invalidates deterministic intuition</a:t>
            </a:r>
          </a:p>
          <a:p>
            <a:pPr algn="l" marL="739456" indent="-369728" lvl="1">
              <a:lnSpc>
                <a:spcPts val="4623"/>
              </a:lnSpc>
              <a:buFont typeface="Arial"/>
              <a:buChar char="•"/>
            </a:pPr>
            <a:r>
              <a:rPr lang="en-US" b="true" sz="342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Variance and distribution shape directly influence decision quality</a:t>
            </a:r>
          </a:p>
          <a:p>
            <a:pPr algn="l" marL="739456" indent="-369728" lvl="1">
              <a:lnSpc>
                <a:spcPts val="4623"/>
              </a:lnSpc>
              <a:buFont typeface="Arial"/>
              <a:buChar char="•"/>
            </a:pPr>
            <a:r>
              <a:rPr lang="en-US" b="true" sz="342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Jensen’s inequality provides formal justification</a:t>
            </a:r>
          </a:p>
          <a:p>
            <a:pPr algn="l" marL="739456" indent="-369728" lvl="1">
              <a:lnSpc>
                <a:spcPts val="4623"/>
              </a:lnSpc>
              <a:buFont typeface="Arial"/>
              <a:buChar char="•"/>
            </a:pPr>
            <a:r>
              <a:rPr lang="en-US" b="true" sz="3424">
                <a:solidFill>
                  <a:srgbClr val="46494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Stochastic routing is a risk-sensitive optimization framework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27414" y="8216749"/>
            <a:ext cx="13433173" cy="82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Niknami, M. and Samaranayake, S. (2016). Tractable Pathfinding for the Stochastic on-time Arrival Problem. In: Springer. pp.231–245.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DAHBBWrXc5k</dc:identifier>
  <dcterms:modified xsi:type="dcterms:W3CDTF">2011-08-01T06:04:30Z</dcterms:modified>
  <cp:revision>1</cp:revision>
  <dc:title>CSE400_Milestone_02_PPT.pptx</dc:title>
</cp:coreProperties>
</file>