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Helvetica World Bold" charset="1" panose="020B0800040000020004"/>
      <p:regular r:id="rId21"/>
    </p:embeddedFont>
    <p:embeddedFont>
      <p:font typeface="Canva Sans" charset="1" panose="020B0503030501040103"/>
      <p:regular r:id="rId22"/>
    </p:embeddedFont>
    <p:embeddedFont>
      <p:font typeface="Canva Sans Bold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54178" y="1028700"/>
            <a:ext cx="5179644" cy="1757713"/>
            <a:chOff x="0" y="0"/>
            <a:chExt cx="7857604" cy="266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935" t="-264896" r="-89066" b="-26541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49039" y="3035041"/>
            <a:ext cx="14472670" cy="2759517"/>
            <a:chOff x="0" y="0"/>
            <a:chExt cx="19296894" cy="36793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96893" cy="3679357"/>
            </a:xfrm>
            <a:custGeom>
              <a:avLst/>
              <a:gdLst/>
              <a:ahLst/>
              <a:cxnLst/>
              <a:rect r="r" b="b" t="t" l="l"/>
              <a:pathLst>
                <a:path h="3679357" w="19296893">
                  <a:moveTo>
                    <a:pt x="0" y="0"/>
                  </a:moveTo>
                  <a:lnTo>
                    <a:pt x="19296893" y="0"/>
                  </a:lnTo>
                  <a:lnTo>
                    <a:pt x="19296893" y="3679357"/>
                  </a:lnTo>
                  <a:lnTo>
                    <a:pt x="0" y="36793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873" r="-8991" b="-358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19296894" cy="36126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Stochastic On Time Arrival Problem (Deterministic Approach - Dijkstra)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07665" y="8767714"/>
            <a:ext cx="14472670" cy="928662"/>
            <a:chOff x="0" y="0"/>
            <a:chExt cx="19296894" cy="1238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96893" cy="1238216"/>
            </a:xfrm>
            <a:custGeom>
              <a:avLst/>
              <a:gdLst/>
              <a:ahLst/>
              <a:cxnLst/>
              <a:rect r="r" b="b" t="t" l="l"/>
              <a:pathLst>
                <a:path h="1238216" w="19296893">
                  <a:moveTo>
                    <a:pt x="0" y="0"/>
                  </a:moveTo>
                  <a:lnTo>
                    <a:pt x="19296893" y="0"/>
                  </a:lnTo>
                  <a:lnTo>
                    <a:pt x="19296893" y="1238216"/>
                  </a:lnTo>
                  <a:lnTo>
                    <a:pt x="0" y="1238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145" r="-8991" b="-30379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9296894" cy="120964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35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CSE 400: Fundamentals of Probability in Computing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22410" y="5794559"/>
            <a:ext cx="5843180" cy="1009239"/>
            <a:chOff x="0" y="0"/>
            <a:chExt cx="7790906" cy="1345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90907" cy="1345653"/>
            </a:xfrm>
            <a:custGeom>
              <a:avLst/>
              <a:gdLst/>
              <a:ahLst/>
              <a:cxnLst/>
              <a:rect r="r" b="b" t="t" l="l"/>
              <a:pathLst>
                <a:path h="1345653" w="7790907">
                  <a:moveTo>
                    <a:pt x="0" y="0"/>
                  </a:moveTo>
                  <a:lnTo>
                    <a:pt x="7790907" y="0"/>
                  </a:lnTo>
                  <a:lnTo>
                    <a:pt x="7790907" y="1345653"/>
                  </a:lnTo>
                  <a:lnTo>
                    <a:pt x="0" y="13456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7534" r="-169955" b="-271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7790906" cy="131707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104"/>
                </a:lnSpc>
              </a:pPr>
              <a:r>
                <a:rPr lang="en-US" sz="38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Milestone - 03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60244" y="6905419"/>
            <a:ext cx="8167512" cy="1576929"/>
            <a:chOff x="0" y="0"/>
            <a:chExt cx="10890016" cy="21025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90016" cy="2102573"/>
            </a:xfrm>
            <a:custGeom>
              <a:avLst/>
              <a:gdLst/>
              <a:ahLst/>
              <a:cxnLst/>
              <a:rect r="r" b="b" t="t" l="l"/>
              <a:pathLst>
                <a:path h="2102573" w="10890016">
                  <a:moveTo>
                    <a:pt x="0" y="0"/>
                  </a:moveTo>
                  <a:lnTo>
                    <a:pt x="10890016" y="0"/>
                  </a:lnTo>
                  <a:lnTo>
                    <a:pt x="10890016" y="2102573"/>
                  </a:lnTo>
                  <a:lnTo>
                    <a:pt x="0" y="2102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022" r="-93131" b="-1377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10890016" cy="206447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33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Abdulwahab Shaikh - AU2440099 </a:t>
              </a:r>
            </a:p>
            <a:p>
              <a:pPr algn="ctr">
                <a:lnSpc>
                  <a:spcPts val="3564"/>
                </a:lnSpc>
              </a:pPr>
              <a:r>
                <a:rPr lang="en-US" sz="33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Vruddhi Madam - AU2440137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66029" y="1028700"/>
            <a:ext cx="10955942" cy="1437078"/>
            <a:chOff x="0" y="0"/>
            <a:chExt cx="14607923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07922" cy="1916104"/>
            </a:xfrm>
            <a:custGeom>
              <a:avLst/>
              <a:gdLst/>
              <a:ahLst/>
              <a:cxnLst/>
              <a:rect r="r" b="b" t="t" l="l"/>
              <a:pathLst>
                <a:path h="1916104" w="14607922">
                  <a:moveTo>
                    <a:pt x="0" y="0"/>
                  </a:moveTo>
                  <a:lnTo>
                    <a:pt x="14607922" y="0"/>
                  </a:lnTo>
                  <a:lnTo>
                    <a:pt x="14607922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43971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4607923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 Previous Milestones (1 and 2)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62581" y="3621385"/>
            <a:ext cx="11214649" cy="3802160"/>
            <a:chOff x="0" y="0"/>
            <a:chExt cx="14952865" cy="50695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52866" cy="5069547"/>
            </a:xfrm>
            <a:custGeom>
              <a:avLst/>
              <a:gdLst/>
              <a:ahLst/>
              <a:cxnLst/>
              <a:rect r="r" b="b" t="t" l="l"/>
              <a:pathLst>
                <a:path h="5069547" w="14952866">
                  <a:moveTo>
                    <a:pt x="0" y="0"/>
                  </a:moveTo>
                  <a:lnTo>
                    <a:pt x="14952866" y="0"/>
                  </a:lnTo>
                  <a:lnTo>
                    <a:pt x="14952866" y="5069547"/>
                  </a:lnTo>
                  <a:lnTo>
                    <a:pt x="0" y="50695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50" r="-40655" b="1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4952865" cy="521242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Stochastic On Time Arrival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Trave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 time is stochastic and a Random Variable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Objective: maximize P(T≤D)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Network modeled as graph G(V,E)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Jensen’s Inequality performed on the model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628663" y="4194766"/>
            <a:ext cx="4900108" cy="2655398"/>
          </a:xfrm>
          <a:custGeom>
            <a:avLst/>
            <a:gdLst/>
            <a:ahLst/>
            <a:cxnLst/>
            <a:rect r="r" b="b" t="t" l="l"/>
            <a:pathLst>
              <a:path h="2655398" w="4900108">
                <a:moveTo>
                  <a:pt x="0" y="0"/>
                </a:moveTo>
                <a:lnTo>
                  <a:pt x="4900108" y="0"/>
                </a:lnTo>
                <a:lnTo>
                  <a:pt x="4900108" y="2655398"/>
                </a:lnTo>
                <a:lnTo>
                  <a:pt x="0" y="265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714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30363" y="1028700"/>
            <a:ext cx="2427274" cy="1437078"/>
            <a:chOff x="0" y="0"/>
            <a:chExt cx="3236366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36366" cy="1916104"/>
            </a:xfrm>
            <a:custGeom>
              <a:avLst/>
              <a:gdLst/>
              <a:ahLst/>
              <a:cxnLst/>
              <a:rect r="r" b="b" t="t" l="l"/>
              <a:pathLst>
                <a:path h="1916104" w="3236366">
                  <a:moveTo>
                    <a:pt x="0" y="0"/>
                  </a:moveTo>
                  <a:lnTo>
                    <a:pt x="3236366" y="0"/>
                  </a:lnTo>
                  <a:lnTo>
                    <a:pt x="3236366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54984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236366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Goal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48479" y="3453878"/>
            <a:ext cx="6456941" cy="4492151"/>
            <a:chOff x="0" y="0"/>
            <a:chExt cx="7781233" cy="54134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81233" cy="5413473"/>
            </a:xfrm>
            <a:custGeom>
              <a:avLst/>
              <a:gdLst/>
              <a:ahLst/>
              <a:cxnLst/>
              <a:rect r="r" b="b" t="t" l="l"/>
              <a:pathLst>
                <a:path h="5413473" w="7781233">
                  <a:moveTo>
                    <a:pt x="0" y="0"/>
                  </a:moveTo>
                  <a:lnTo>
                    <a:pt x="7781233" y="0"/>
                  </a:lnTo>
                  <a:lnTo>
                    <a:pt x="7781233" y="5413473"/>
                  </a:lnTo>
                  <a:lnTo>
                    <a:pt x="0" y="54134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045" r="-170291" b="764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7781233" cy="5556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12488" indent="-356244" lvl="1">
                <a:lnSpc>
                  <a:spcPts val="5412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To build the model with a deterministic approach</a:t>
              </a:r>
            </a:p>
            <a:p>
              <a:pPr algn="l">
                <a:lnSpc>
                  <a:spcPts val="5412"/>
                </a:lnSpc>
              </a:pPr>
            </a:p>
            <a:p>
              <a:pPr algn="l" marL="712488" indent="-356244" lvl="1">
                <a:lnSpc>
                  <a:spcPts val="5412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Finding the shortest path  in a given network of nodes for Milestone - 03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62581" y="3059888"/>
            <a:ext cx="8520618" cy="5404420"/>
          </a:xfrm>
          <a:custGeom>
            <a:avLst/>
            <a:gdLst/>
            <a:ahLst/>
            <a:cxnLst/>
            <a:rect r="r" b="b" t="t" l="l"/>
            <a:pathLst>
              <a:path h="5404420" w="8520618">
                <a:moveTo>
                  <a:pt x="0" y="0"/>
                </a:moveTo>
                <a:lnTo>
                  <a:pt x="8520618" y="0"/>
                </a:lnTo>
                <a:lnTo>
                  <a:pt x="8520618" y="5404420"/>
                </a:lnTo>
                <a:lnTo>
                  <a:pt x="0" y="54044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26198" y="882437"/>
            <a:ext cx="10035603" cy="1437078"/>
            <a:chOff x="0" y="0"/>
            <a:chExt cx="1338080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80803" cy="1916104"/>
            </a:xfrm>
            <a:custGeom>
              <a:avLst/>
              <a:gdLst/>
              <a:ahLst/>
              <a:cxnLst/>
              <a:rect r="r" b="b" t="t" l="l"/>
              <a:pathLst>
                <a:path h="1916104" w="13380803">
                  <a:moveTo>
                    <a:pt x="0" y="0"/>
                  </a:moveTo>
                  <a:lnTo>
                    <a:pt x="13380803" y="0"/>
                  </a:lnTo>
                  <a:lnTo>
                    <a:pt x="13380803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57174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338080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Deterministic Approach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302645" y="2319516"/>
            <a:ext cx="2956655" cy="6011720"/>
          </a:xfrm>
          <a:custGeom>
            <a:avLst/>
            <a:gdLst/>
            <a:ahLst/>
            <a:cxnLst/>
            <a:rect r="r" b="b" t="t" l="l"/>
            <a:pathLst>
              <a:path h="6011720" w="2956655">
                <a:moveTo>
                  <a:pt x="0" y="0"/>
                </a:moveTo>
                <a:lnTo>
                  <a:pt x="2956655" y="0"/>
                </a:lnTo>
                <a:lnTo>
                  <a:pt x="2956655" y="6011720"/>
                </a:lnTo>
                <a:lnTo>
                  <a:pt x="0" y="6011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419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49039" y="3100707"/>
            <a:ext cx="10101352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Each road is considered as an edge and it has </a:t>
            </a:r>
          </a:p>
          <a:p>
            <a:pPr algn="ctr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Source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Destination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PMF for arriving within 0, 1 and 2 seconds respectively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37619" y="8498176"/>
            <a:ext cx="12212763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>
                <a:solidFill>
                  <a:srgbClr val="004A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 are using a medium sample of around 500 Nodes from the data generated randomly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93329" y="501299"/>
            <a:ext cx="13301343" cy="2246703"/>
            <a:chOff x="0" y="0"/>
            <a:chExt cx="17735123" cy="2995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35124" cy="2995604"/>
            </a:xfrm>
            <a:custGeom>
              <a:avLst/>
              <a:gdLst/>
              <a:ahLst/>
              <a:cxnLst/>
              <a:rect r="r" b="b" t="t" l="l"/>
              <a:pathLst>
                <a:path h="2995604" w="17735124">
                  <a:moveTo>
                    <a:pt x="0" y="0"/>
                  </a:moveTo>
                  <a:lnTo>
                    <a:pt x="17735124" y="0"/>
                  </a:lnTo>
                  <a:lnTo>
                    <a:pt x="17735124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567" r="-18585" b="-132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7735123" cy="29479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Dijkstra / Least Expected Travel Time (LET)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77642" y="3193846"/>
            <a:ext cx="7524086" cy="527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This time the deterministic algorithm is Dijkstra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 follow the concept of LET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Least Expected Travel Time between 2 distinct nodes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Lack of Randomness and works purely on comparison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389824" y="5691298"/>
            <a:ext cx="227161" cy="22716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62792" y="5691298"/>
            <a:ext cx="227161" cy="22716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84074" y="3410768"/>
            <a:ext cx="8707759" cy="5056118"/>
          </a:xfrm>
          <a:custGeom>
            <a:avLst/>
            <a:gdLst/>
            <a:ahLst/>
            <a:cxnLst/>
            <a:rect r="r" b="b" t="t" l="l"/>
            <a:pathLst>
              <a:path h="5056118" w="8707759">
                <a:moveTo>
                  <a:pt x="0" y="0"/>
                </a:moveTo>
                <a:lnTo>
                  <a:pt x="8707759" y="0"/>
                </a:lnTo>
                <a:lnTo>
                  <a:pt x="8707759" y="5056118"/>
                </a:lnTo>
                <a:lnTo>
                  <a:pt x="0" y="5056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Dijkstra with Waypoint Navigation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36315" y="2703338"/>
            <a:ext cx="7524086" cy="635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 can also add in multiple stops for our chosen path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algorithm break down the process in multiple pipelines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Uses Dijkstra on multiple paths recursively untill finding the shortest path for all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Merging the different piece of pipeline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389824" y="5691298"/>
            <a:ext cx="227161" cy="22716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62792" y="5691298"/>
            <a:ext cx="227161" cy="22716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4074" y="2550572"/>
            <a:ext cx="8707759" cy="5916314"/>
            <a:chOff x="0" y="0"/>
            <a:chExt cx="11610345" cy="78884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1146928"/>
              <a:ext cx="11610345" cy="6741491"/>
            </a:xfrm>
            <a:custGeom>
              <a:avLst/>
              <a:gdLst/>
              <a:ahLst/>
              <a:cxnLst/>
              <a:rect r="r" b="b" t="t" l="l"/>
              <a:pathLst>
                <a:path h="6741491" w="11610345">
                  <a:moveTo>
                    <a:pt x="0" y="0"/>
                  </a:moveTo>
                  <a:lnTo>
                    <a:pt x="11610345" y="0"/>
                  </a:lnTo>
                  <a:lnTo>
                    <a:pt x="11610345" y="6741490"/>
                  </a:lnTo>
                  <a:lnTo>
                    <a:pt x="0" y="6741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22" id="22"/>
            <p:cNvSpPr/>
            <p:nvPr/>
          </p:nvSpPr>
          <p:spPr>
            <a:xfrm flipH="true" flipV="true">
              <a:off x="2926495" y="697031"/>
              <a:ext cx="692895" cy="406619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V="true">
              <a:off x="4880877" y="697031"/>
              <a:ext cx="924296" cy="406406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5447561" y="-38100"/>
              <a:ext cx="1268095" cy="515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46494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Stop-1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282446" y="-38100"/>
              <a:ext cx="1288098" cy="515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46494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Stop-2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 Results of the Algorithm - 1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38220" y="2819885"/>
            <a:ext cx="11007989" cy="5641595"/>
          </a:xfrm>
          <a:custGeom>
            <a:avLst/>
            <a:gdLst/>
            <a:ahLst/>
            <a:cxnLst/>
            <a:rect r="r" b="b" t="t" l="l"/>
            <a:pathLst>
              <a:path h="5641595" w="11007989">
                <a:moveTo>
                  <a:pt x="0" y="0"/>
                </a:moveTo>
                <a:lnTo>
                  <a:pt x="11007989" y="0"/>
                </a:lnTo>
                <a:lnTo>
                  <a:pt x="11007989" y="5641594"/>
                </a:lnTo>
                <a:lnTo>
                  <a:pt x="0" y="564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938891" y="2687932"/>
            <a:ext cx="5934162" cy="590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Graph takes an input file (.json) format of a dataset of the nodes with PMF of reaching different destinations from 1 node to other and the PMF of different seconds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Holds the Number of nodes and asks destination and source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 Results of the Algorithm - 2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938891" y="2687932"/>
            <a:ext cx="5934162" cy="590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After calculation and the merge part of the different pipelines, it gives the final resultant path as output sequence of ordered nodes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code also calculates the top 5 possible arriving times and their probability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38220" y="2819885"/>
            <a:ext cx="11007989" cy="5641595"/>
          </a:xfrm>
          <a:custGeom>
            <a:avLst/>
            <a:gdLst/>
            <a:ahLst/>
            <a:cxnLst/>
            <a:rect r="r" b="b" t="t" l="l"/>
            <a:pathLst>
              <a:path h="5641595" w="11007989">
                <a:moveTo>
                  <a:pt x="0" y="0"/>
                </a:moveTo>
                <a:lnTo>
                  <a:pt x="11007989" y="0"/>
                </a:lnTo>
                <a:lnTo>
                  <a:pt x="11007989" y="5641594"/>
                </a:lnTo>
                <a:lnTo>
                  <a:pt x="0" y="564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 Results of the Algorithm - 3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045651" y="2006514"/>
            <a:ext cx="4409460" cy="3754974"/>
          </a:xfrm>
          <a:custGeom>
            <a:avLst/>
            <a:gdLst/>
            <a:ahLst/>
            <a:cxnLst/>
            <a:rect r="r" b="b" t="t" l="l"/>
            <a:pathLst>
              <a:path h="3754974" w="4409460">
                <a:moveTo>
                  <a:pt x="0" y="0"/>
                </a:moveTo>
                <a:lnTo>
                  <a:pt x="4409460" y="0"/>
                </a:lnTo>
                <a:lnTo>
                  <a:pt x="4409460" y="3754974"/>
                </a:lnTo>
                <a:lnTo>
                  <a:pt x="0" y="3754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45651" y="5940896"/>
            <a:ext cx="4409460" cy="3620028"/>
          </a:xfrm>
          <a:custGeom>
            <a:avLst/>
            <a:gdLst/>
            <a:ahLst/>
            <a:cxnLst/>
            <a:rect r="r" b="b" t="t" l="l"/>
            <a:pathLst>
              <a:path h="3620028" w="4409460">
                <a:moveTo>
                  <a:pt x="0" y="0"/>
                </a:moveTo>
                <a:lnTo>
                  <a:pt x="4409460" y="0"/>
                </a:lnTo>
                <a:lnTo>
                  <a:pt x="4409460" y="3620028"/>
                </a:lnTo>
                <a:lnTo>
                  <a:pt x="0" y="36200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23" r="0" b="-232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2581" y="2646999"/>
            <a:ext cx="10232408" cy="6228978"/>
          </a:xfrm>
          <a:custGeom>
            <a:avLst/>
            <a:gdLst/>
            <a:ahLst/>
            <a:cxnLst/>
            <a:rect r="r" b="b" t="t" l="l"/>
            <a:pathLst>
              <a:path h="6228978" w="10232408">
                <a:moveTo>
                  <a:pt x="0" y="0"/>
                </a:moveTo>
                <a:lnTo>
                  <a:pt x="10232408" y="0"/>
                </a:lnTo>
                <a:lnTo>
                  <a:pt x="10232408" y="6228978"/>
                </a:lnTo>
                <a:lnTo>
                  <a:pt x="0" y="62289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Simulation Pipeline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62581" y="2146305"/>
            <a:ext cx="10741996" cy="6731137"/>
            <a:chOff x="0" y="0"/>
            <a:chExt cx="14322661" cy="897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22661" cy="8974850"/>
            </a:xfrm>
            <a:custGeom>
              <a:avLst/>
              <a:gdLst/>
              <a:ahLst/>
              <a:cxnLst/>
              <a:rect r="r" b="b" t="t" l="l"/>
              <a:pathLst>
                <a:path h="8974850" w="14322661">
                  <a:moveTo>
                    <a:pt x="0" y="0"/>
                  </a:moveTo>
                  <a:lnTo>
                    <a:pt x="14322661" y="0"/>
                  </a:lnTo>
                  <a:lnTo>
                    <a:pt x="14322661" y="8974850"/>
                  </a:lnTo>
                  <a:lnTo>
                    <a:pt x="0" y="8974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615" r="-46844" b="442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4322661" cy="91177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Network on the roads created using about 500 nodes.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ach of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the edges contains a PMF of travel time.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Varia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ble: The graph is based on the using of JSON dataset.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eterministic routing is done through the Dijkstra algorithm. 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Shortest path computed using by expected travel time.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49687" y="2146305"/>
            <a:ext cx="3801389" cy="6283373"/>
            <a:chOff x="0" y="0"/>
            <a:chExt cx="5068518" cy="837783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4444" cy="1180041"/>
              <a:chOff x="0" y="0"/>
              <a:chExt cx="1296526" cy="3026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96526" cy="302695"/>
              </a:xfrm>
              <a:custGeom>
                <a:avLst/>
                <a:gdLst/>
                <a:ahLst/>
                <a:cxnLst/>
                <a:rect r="r" b="b" t="t" l="l"/>
                <a:pathLst>
                  <a:path h="302695" w="1296526">
                    <a:moveTo>
                      <a:pt x="1093326" y="0"/>
                    </a:moveTo>
                    <a:cubicBezTo>
                      <a:pt x="1205550" y="0"/>
                      <a:pt x="1296526" y="67761"/>
                      <a:pt x="1296526" y="151347"/>
                    </a:cubicBezTo>
                    <a:cubicBezTo>
                      <a:pt x="1296526" y="234934"/>
                      <a:pt x="1205550" y="302695"/>
                      <a:pt x="1093326" y="302695"/>
                    </a:cubicBezTo>
                    <a:lnTo>
                      <a:pt x="203200" y="302695"/>
                    </a:lnTo>
                    <a:cubicBezTo>
                      <a:pt x="90976" y="302695"/>
                      <a:pt x="0" y="234934"/>
                      <a:pt x="0" y="151347"/>
                    </a:cubicBezTo>
                    <a:cubicBezTo>
                      <a:pt x="0" y="6776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7C7C7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296526" cy="3407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Dataset (JSON)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4075" y="1798226"/>
              <a:ext cx="5054444" cy="1179718"/>
              <a:chOff x="0" y="0"/>
              <a:chExt cx="1296526" cy="30261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96526" cy="302612"/>
              </a:xfrm>
              <a:custGeom>
                <a:avLst/>
                <a:gdLst/>
                <a:ahLst/>
                <a:cxnLst/>
                <a:rect r="r" b="b" t="t" l="l"/>
                <a:pathLst>
                  <a:path h="302612" w="1296526">
                    <a:moveTo>
                      <a:pt x="1093326" y="0"/>
                    </a:moveTo>
                    <a:cubicBezTo>
                      <a:pt x="1205550" y="0"/>
                      <a:pt x="1296526" y="67742"/>
                      <a:pt x="1296526" y="151306"/>
                    </a:cubicBezTo>
                    <a:cubicBezTo>
                      <a:pt x="1296526" y="234870"/>
                      <a:pt x="1205550" y="302612"/>
                      <a:pt x="1093326" y="302612"/>
                    </a:cubicBezTo>
                    <a:lnTo>
                      <a:pt x="203200" y="302612"/>
                    </a:lnTo>
                    <a:cubicBezTo>
                      <a:pt x="90976" y="302612"/>
                      <a:pt x="0" y="234870"/>
                      <a:pt x="0" y="151306"/>
                    </a:cubicBezTo>
                    <a:cubicBezTo>
                      <a:pt x="0" y="6774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7C7C7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296526" cy="3407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Graph Construction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4075" y="3596130"/>
              <a:ext cx="5054444" cy="1179718"/>
              <a:chOff x="0" y="0"/>
              <a:chExt cx="1296526" cy="30261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296526" cy="302612"/>
              </a:xfrm>
              <a:custGeom>
                <a:avLst/>
                <a:gdLst/>
                <a:ahLst/>
                <a:cxnLst/>
                <a:rect r="r" b="b" t="t" l="l"/>
                <a:pathLst>
                  <a:path h="302612" w="1296526">
                    <a:moveTo>
                      <a:pt x="1093326" y="0"/>
                    </a:moveTo>
                    <a:cubicBezTo>
                      <a:pt x="1205550" y="0"/>
                      <a:pt x="1296526" y="67742"/>
                      <a:pt x="1296526" y="151306"/>
                    </a:cubicBezTo>
                    <a:cubicBezTo>
                      <a:pt x="1296526" y="234870"/>
                      <a:pt x="1205550" y="302612"/>
                      <a:pt x="1093326" y="302612"/>
                    </a:cubicBezTo>
                    <a:lnTo>
                      <a:pt x="203200" y="302612"/>
                    </a:lnTo>
                    <a:cubicBezTo>
                      <a:pt x="90976" y="302612"/>
                      <a:pt x="0" y="234870"/>
                      <a:pt x="0" y="151306"/>
                    </a:cubicBezTo>
                    <a:cubicBezTo>
                      <a:pt x="0" y="6774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7C7C7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296526" cy="3407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Dijkstra Algorithm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5397121"/>
              <a:ext cx="5054444" cy="1179718"/>
              <a:chOff x="0" y="0"/>
              <a:chExt cx="1296526" cy="30261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96526" cy="302612"/>
              </a:xfrm>
              <a:custGeom>
                <a:avLst/>
                <a:gdLst/>
                <a:ahLst/>
                <a:cxnLst/>
                <a:rect r="r" b="b" t="t" l="l"/>
                <a:pathLst>
                  <a:path h="302612" w="1296526">
                    <a:moveTo>
                      <a:pt x="1093326" y="0"/>
                    </a:moveTo>
                    <a:cubicBezTo>
                      <a:pt x="1205550" y="0"/>
                      <a:pt x="1296526" y="67742"/>
                      <a:pt x="1296526" y="151306"/>
                    </a:cubicBezTo>
                    <a:cubicBezTo>
                      <a:pt x="1296526" y="234870"/>
                      <a:pt x="1205550" y="302612"/>
                      <a:pt x="1093326" y="302612"/>
                    </a:cubicBezTo>
                    <a:lnTo>
                      <a:pt x="203200" y="302612"/>
                    </a:lnTo>
                    <a:cubicBezTo>
                      <a:pt x="90976" y="302612"/>
                      <a:pt x="0" y="234870"/>
                      <a:pt x="0" y="151306"/>
                    </a:cubicBezTo>
                    <a:cubicBezTo>
                      <a:pt x="0" y="6774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7C7C7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96526" cy="3407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Shortest Path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4075" y="7198113"/>
              <a:ext cx="5054444" cy="1179718"/>
              <a:chOff x="0" y="0"/>
              <a:chExt cx="1296526" cy="30261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296526" cy="302612"/>
              </a:xfrm>
              <a:custGeom>
                <a:avLst/>
                <a:gdLst/>
                <a:ahLst/>
                <a:cxnLst/>
                <a:rect r="r" b="b" t="t" l="l"/>
                <a:pathLst>
                  <a:path h="302612" w="1296526">
                    <a:moveTo>
                      <a:pt x="1093326" y="0"/>
                    </a:moveTo>
                    <a:cubicBezTo>
                      <a:pt x="1205550" y="0"/>
                      <a:pt x="1296526" y="67742"/>
                      <a:pt x="1296526" y="151306"/>
                    </a:cubicBezTo>
                    <a:cubicBezTo>
                      <a:pt x="1296526" y="234870"/>
                      <a:pt x="1205550" y="302612"/>
                      <a:pt x="1093326" y="302612"/>
                    </a:cubicBezTo>
                    <a:lnTo>
                      <a:pt x="203200" y="302612"/>
                    </a:lnTo>
                    <a:cubicBezTo>
                      <a:pt x="90976" y="302612"/>
                      <a:pt x="0" y="234870"/>
                      <a:pt x="0" y="151306"/>
                    </a:cubicBezTo>
                    <a:cubicBezTo>
                      <a:pt x="0" y="6774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7C7C7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296526" cy="3407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Reliability Analysis</a:t>
                </a: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5400000">
              <a:off x="2226730" y="1250880"/>
              <a:ext cx="629134" cy="465559"/>
            </a:xfrm>
            <a:custGeom>
              <a:avLst/>
              <a:gdLst/>
              <a:ahLst/>
              <a:cxnLst/>
              <a:rect r="r" b="b" t="t" l="l"/>
              <a:pathLst>
                <a:path h="465559" w="629134">
                  <a:moveTo>
                    <a:pt x="0" y="0"/>
                  </a:moveTo>
                  <a:lnTo>
                    <a:pt x="629133" y="0"/>
                  </a:lnTo>
                  <a:lnTo>
                    <a:pt x="629133" y="465559"/>
                  </a:lnTo>
                  <a:lnTo>
                    <a:pt x="0" y="465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5400000">
              <a:off x="2226730" y="3048784"/>
              <a:ext cx="629134" cy="465559"/>
            </a:xfrm>
            <a:custGeom>
              <a:avLst/>
              <a:gdLst/>
              <a:ahLst/>
              <a:cxnLst/>
              <a:rect r="r" b="b" t="t" l="l"/>
              <a:pathLst>
                <a:path h="465559" w="629134">
                  <a:moveTo>
                    <a:pt x="0" y="0"/>
                  </a:moveTo>
                  <a:lnTo>
                    <a:pt x="629133" y="0"/>
                  </a:lnTo>
                  <a:lnTo>
                    <a:pt x="629133" y="465559"/>
                  </a:lnTo>
                  <a:lnTo>
                    <a:pt x="0" y="465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5400000">
              <a:off x="2226730" y="4849775"/>
              <a:ext cx="629134" cy="465559"/>
            </a:xfrm>
            <a:custGeom>
              <a:avLst/>
              <a:gdLst/>
              <a:ahLst/>
              <a:cxnLst/>
              <a:rect r="r" b="b" t="t" l="l"/>
              <a:pathLst>
                <a:path h="465559" w="629134">
                  <a:moveTo>
                    <a:pt x="0" y="0"/>
                  </a:moveTo>
                  <a:lnTo>
                    <a:pt x="629133" y="0"/>
                  </a:lnTo>
                  <a:lnTo>
                    <a:pt x="629133" y="465559"/>
                  </a:lnTo>
                  <a:lnTo>
                    <a:pt x="0" y="465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5400000">
              <a:off x="2212655" y="6650767"/>
              <a:ext cx="629134" cy="465559"/>
            </a:xfrm>
            <a:custGeom>
              <a:avLst/>
              <a:gdLst/>
              <a:ahLst/>
              <a:cxnLst/>
              <a:rect r="r" b="b" t="t" l="l"/>
              <a:pathLst>
                <a:path h="465559" w="629134">
                  <a:moveTo>
                    <a:pt x="0" y="0"/>
                  </a:moveTo>
                  <a:lnTo>
                    <a:pt x="629134" y="0"/>
                  </a:lnTo>
                  <a:lnTo>
                    <a:pt x="629134" y="465558"/>
                  </a:lnTo>
                  <a:lnTo>
                    <a:pt x="0" y="4655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Least Expected Travel Time (LET)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5810" y="3241615"/>
            <a:ext cx="14776380" cy="3803770"/>
            <a:chOff x="0" y="0"/>
            <a:chExt cx="19701840" cy="50716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01841" cy="5071693"/>
            </a:xfrm>
            <a:custGeom>
              <a:avLst/>
              <a:gdLst/>
              <a:ahLst/>
              <a:cxnLst/>
              <a:rect r="r" b="b" t="t" l="l"/>
              <a:pathLst>
                <a:path h="5071693" w="19701841">
                  <a:moveTo>
                    <a:pt x="0" y="0"/>
                  </a:moveTo>
                  <a:lnTo>
                    <a:pt x="19701841" y="0"/>
                  </a:lnTo>
                  <a:lnTo>
                    <a:pt x="19701841" y="5071693"/>
                  </a:lnTo>
                  <a:lnTo>
                    <a:pt x="0" y="50716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24" r="-6751" b="141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9701840" cy="521456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Every edge has a travel time distribution.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Expe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ted travel time that is calculated as: </a:t>
              </a:r>
            </a:p>
            <a:p>
              <a:pPr algn="l">
                <a:lnSpc>
                  <a:spcPts val="5445"/>
                </a:lnSpc>
              </a:pPr>
              <a:r>
                <a:rPr lang="en-US" sz="33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                          </a:t>
              </a:r>
              <a:r>
                <a:rPr lang="en-US" sz="33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E[T] = ∑t∙P(t)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Dijkstra a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lgorithm minimizes the total expected travel time. 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This gives d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eterministic base of routing decisions. 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Arrival Probability Computation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5810" y="2875694"/>
            <a:ext cx="14776380" cy="4535612"/>
            <a:chOff x="0" y="0"/>
            <a:chExt cx="19701840" cy="60474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01841" cy="6047482"/>
            </a:xfrm>
            <a:custGeom>
              <a:avLst/>
              <a:gdLst/>
              <a:ahLst/>
              <a:cxnLst/>
              <a:rect r="r" b="b" t="t" l="l"/>
              <a:pathLst>
                <a:path h="6047482" w="19701841">
                  <a:moveTo>
                    <a:pt x="0" y="0"/>
                  </a:moveTo>
                  <a:lnTo>
                    <a:pt x="19701841" y="0"/>
                  </a:lnTo>
                  <a:lnTo>
                    <a:pt x="19701841" y="6047482"/>
                  </a:lnTo>
                  <a:lnTo>
                    <a:pt x="0" y="60474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54" r="-6751" b="1732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9701840" cy="619035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At any rate, the journey times are stochastic. 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dge PMFs are combined using convolution.</a:t>
              </a:r>
            </a:p>
            <a:p>
              <a:pPr algn="ctr">
                <a:lnSpc>
                  <a:spcPts val="5445"/>
                </a:lnSpc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PMFₚₐₜₕ = PMF₁ * PMF₂*.....* PMFₙ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 p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robabi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lity of arrival is calculated to be</a:t>
              </a:r>
            </a:p>
            <a:p>
              <a:pPr algn="ctr">
                <a:lnSpc>
                  <a:spcPts val="5445"/>
                </a:lnSpc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P(T ≤ D)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Shows probability of reaching the d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estination ahead of time.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Observations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86000" y="3241615"/>
            <a:ext cx="14439419" cy="3803770"/>
            <a:chOff x="0" y="0"/>
            <a:chExt cx="19252559" cy="50716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52558" cy="5071693"/>
            </a:xfrm>
            <a:custGeom>
              <a:avLst/>
              <a:gdLst/>
              <a:ahLst/>
              <a:cxnLst/>
              <a:rect r="r" b="b" t="t" l="l"/>
              <a:pathLst>
                <a:path h="5071693" w="19252558">
                  <a:moveTo>
                    <a:pt x="0" y="0"/>
                  </a:moveTo>
                  <a:lnTo>
                    <a:pt x="19252558" y="0"/>
                  </a:lnTo>
                  <a:lnTo>
                    <a:pt x="19252558" y="5071693"/>
                  </a:lnTo>
                  <a:lnTo>
                    <a:pt x="0" y="50716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24" r="-9242" b="141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9252559" cy="521456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Dijkstra determines the one that takes the shortest time.  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he mos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 likely arrival time is demonstrated by the PDF.  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 CDF is characterized by the probability of arriving within time budget. 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eliability will depend on complete allocation of travel time.  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Limitations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62581" y="2509773"/>
            <a:ext cx="9509207" cy="5267454"/>
            <a:chOff x="0" y="0"/>
            <a:chExt cx="12678943" cy="7023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78943" cy="7023272"/>
            </a:xfrm>
            <a:custGeom>
              <a:avLst/>
              <a:gdLst/>
              <a:ahLst/>
              <a:cxnLst/>
              <a:rect r="r" b="b" t="t" l="l"/>
              <a:pathLst>
                <a:path h="7023272" w="12678943">
                  <a:moveTo>
                    <a:pt x="0" y="0"/>
                  </a:moveTo>
                  <a:lnTo>
                    <a:pt x="12678943" y="0"/>
                  </a:lnTo>
                  <a:lnTo>
                    <a:pt x="12678943" y="7023272"/>
                  </a:lnTo>
                  <a:lnTo>
                    <a:pt x="0" y="70232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511" r="-65881" b="2881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2678943" cy="71661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just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Only expected time is minimized.  </a:t>
              </a:r>
            </a:p>
            <a:p>
              <a:pPr algn="just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Variabili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ty in the travel times is not taken into consideration.  </a:t>
              </a:r>
            </a:p>
            <a:p>
              <a:pPr algn="just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Poss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ibly, there can be differing reliabilities in paths with the same expectation.  </a:t>
              </a:r>
            </a:p>
            <a:p>
              <a:pPr algn="just">
                <a:lnSpc>
                  <a:spcPts val="5445"/>
                </a:lnSpc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These d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eficiencies will drive the use of stochastic or randomised routing approaches. 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640897" y="2436728"/>
            <a:ext cx="11294206" cy="5413544"/>
          </a:xfrm>
          <a:custGeom>
            <a:avLst/>
            <a:gdLst/>
            <a:ahLst/>
            <a:cxnLst/>
            <a:rect r="r" b="b" t="t" l="l"/>
            <a:pathLst>
              <a:path h="5413544" w="11294206">
                <a:moveTo>
                  <a:pt x="0" y="0"/>
                </a:moveTo>
                <a:lnTo>
                  <a:pt x="11294206" y="0"/>
                </a:lnTo>
                <a:lnTo>
                  <a:pt x="11294206" y="5413544"/>
                </a:lnTo>
                <a:lnTo>
                  <a:pt x="0" y="5413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561" r="0" b="-1141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References and Source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27414" y="2786120"/>
            <a:ext cx="13433173" cy="82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Niknami, M. and Samaranayake, S. (2016). Tractable Pathfinding for the Stochastic on-time Arrival Problem. In: Springer. pp.231–245.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27414" y="4005043"/>
            <a:ext cx="13433173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GitHub Repositroy link for the Deterministic Dijkstra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DAHCxZo17FA</dc:identifier>
  <dcterms:modified xsi:type="dcterms:W3CDTF">2011-08-01T06:04:30Z</dcterms:modified>
  <cp:revision>1</cp:revision>
  <dc:title>CSE400_Milestone_03_PPT.pptx</dc:title>
</cp:coreProperties>
</file>